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F3A93"/>
                </a:solidFill>
              </a:defRPr>
            </a:pPr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Presentation\nData Engineering, Advanced Analytics &amp;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</a:t>
            </a:r>
          </a:p>
          <a:p>
            <a:pPr lvl="1"/>
            <a:r>
              <a:t>- Lack of consolidated insights across 40 Mutual Fund schemes.</a:t>
            </a:r>
          </a:p>
          <a:p>
            <a:pPr lvl="1"/>
            <a:r>
              <a:t>- Inability to decouple market returns (Beta) from manager skill (Alpha).</a:t>
            </a:r>
          </a:p>
          <a:p>
            <a:pPr/>
            <a:r>
              <a:t>Objectives:</a:t>
            </a:r>
          </a:p>
          <a:p>
            <a:pPr lvl="1"/>
            <a:r>
              <a:t>- Design an automated ETL pipeline and Star Schema data warehouse.</a:t>
            </a:r>
          </a:p>
          <a:p>
            <a:pPr lvl="1"/>
            <a:r>
              <a:t>- Compute advanced risk-adjusted metrics (Sharpe, CVaR, Max Drawdown).</a:t>
            </a:r>
          </a:p>
          <a:p>
            <a:pPr lvl="1"/>
            <a:r>
              <a:t>- Build an interactive BI Dashboard for executive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Data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</a:t>
            </a:r>
          </a:p>
          <a:p>
            <a:pPr lvl="1"/>
            <a:r>
              <a:t>- 10 Raw CSV datasets spanning NAV, Transactions, and Portfolio Holdings.</a:t>
            </a:r>
          </a:p>
          <a:p>
            <a:pPr/>
            <a:r>
              <a:t>ETL &amp; Star Schema:</a:t>
            </a:r>
          </a:p>
          <a:p>
            <a:pPr lvl="1"/>
            <a:r>
              <a:t>- Powered by Python (Pandas) and SQLite.</a:t>
            </a:r>
          </a:p>
          <a:p>
            <a:pPr lvl="1"/>
            <a:r>
              <a:t>- Fact Tables: fact_nav, fact_transactions, fact_aum, fact_performance.</a:t>
            </a:r>
          </a:p>
          <a:p>
            <a:pPr lvl="1"/>
            <a:r>
              <a:t>- Dimension Tables: dim_fund, dim_date.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EDA Highlights: Macro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Assets Under Management (AUM):</a:t>
            </a:r>
          </a:p>
          <a:p>
            <a:pPr lvl="1"/>
            <a:r>
              <a:t>- The industry hit a historic milestone of ₹81 Lakh Crores.</a:t>
            </a:r>
          </a:p>
          <a:p>
            <a:pPr/>
            <a:r>
              <a:t>Retail Participation Surge:</a:t>
            </a:r>
          </a:p>
          <a:p>
            <a:pPr lvl="1"/>
            <a:r>
              <a:t>- Systematic Investment Plan (SIP) inflows peaked at ₹31,002 Crores per month.</a:t>
            </a:r>
          </a:p>
          <a:p>
            <a:pPr lvl="1"/>
            <a:r>
              <a:t>- Total investor folios expanded to 26.12 Crores.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EDA Highlights: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Geographical Distribution:</a:t>
            </a:r>
          </a:p>
          <a:p>
            <a:pPr lvl="1"/>
            <a:r>
              <a:t>- Maharashtra and Gujarat lead in total SIP contributions.</a:t>
            </a:r>
          </a:p>
          <a:p>
            <a:pPr/>
            <a:r>
              <a:t>Age Demographics:</a:t>
            </a:r>
          </a:p>
          <a:p>
            <a:pPr lvl="1"/>
            <a:r>
              <a:t>- 25-35 year olds constitute the largest volume of SIP transactions.</a:t>
            </a:r>
          </a:p>
          <a:p>
            <a:pPr lvl="1"/>
            <a:r>
              <a:t>- 45-55 year olds maintain the highest average ticket size per SIP.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Performance Analytics: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Compound Annual Growth Rate (CAGR):</a:t>
            </a:r>
          </a:p>
          <a:p>
            <a:pPr lvl="1"/>
            <a:r>
              <a:t>- Calculated 1-Year, 3-Year, and 5-Year CAGR for all 40 schemes.</a:t>
            </a:r>
          </a:p>
          <a:p>
            <a:pPr/>
            <a:r>
              <a:t>Alpha &amp; Beta Extraction:</a:t>
            </a:r>
          </a:p>
          <a:p>
            <a:pPr lvl="1"/>
            <a:r>
              <a:t>- Utilized OLS Regression via scipy.stats against the Nifty 100 benchmark.</a:t>
            </a:r>
          </a:p>
          <a:p>
            <a:pPr lvl="1"/>
            <a:r>
              <a:t>- Quantified true manager skill (Alpha) isolated from market correlation (Beta).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Performance Analytics: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Risk-Adjusted Ratios:</a:t>
            </a:r>
          </a:p>
          <a:p>
            <a:pPr lvl="1"/>
            <a:r>
              <a:t>- Sharpe Ratio (utilizing a 6.5% risk-free rate) &amp; Sortino Ratio.</a:t>
            </a:r>
          </a:p>
          <a:p>
            <a:pPr/>
            <a:r>
              <a:t>Tail Risk Analysis:</a:t>
            </a:r>
          </a:p>
          <a:p>
            <a:pPr lvl="1"/>
            <a:r>
              <a:t>- Historical 95% Value at Risk (VaR) &amp; Conditional VaR (CVaR).</a:t>
            </a:r>
          </a:p>
          <a:p>
            <a:pPr lvl="1"/>
            <a:r>
              <a:t>- Calculated Herfindahl-Hirschman Index (HHI) identifying hidden sector concentration.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BI Dashboard: 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natively in Python (Streamlit):</a:t>
            </a:r>
          </a:p>
          <a:p>
            <a:pPr lvl="1"/>
            <a:r>
              <a:t>- Direct SQLite ODBC connection ensures real-time queries.</a:t>
            </a:r>
          </a:p>
          <a:p>
            <a:pPr lvl="1"/>
            <a:r>
              <a:t>- Interactive KPI cards tracking total industry assets and flows.</a:t>
            </a:r>
          </a:p>
          <a:p>
            <a:pPr lvl="1"/>
            <a:r>
              <a:t>- Visual breakdown of AMC market share and total AUM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BI Dashboard: Analytics &amp; Cohorts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 Performance Matrix:</a:t>
            </a:r>
          </a:p>
          <a:p>
            <a:pPr lvl="1"/>
            <a:r>
              <a:t>- Dynamic Risk vs Return scatter plots (Bubble size = Expense Ratio).</a:t>
            </a:r>
          </a:p>
          <a:p>
            <a:pPr/>
            <a:r>
              <a:t>Investor Analytics:</a:t>
            </a:r>
          </a:p>
          <a:p>
            <a:pPr lvl="1"/>
            <a:r>
              <a:t>- Behavioral cohort tracking (Lifetime Value by starting year).</a:t>
            </a:r>
          </a:p>
          <a:p>
            <a:pPr lvl="1"/>
            <a:r>
              <a:t>- Cross-filtering enabled across demographics, category, and fund house.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Key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Sticky Capital Hypothesis Validated:</a:t>
            </a:r>
          </a:p>
          <a:p>
            <a:pPr lvl="1"/>
            <a:r>
              <a:t>- SIP inflows remained highly resilient despite the 2024 Nifty 50 corrections.</a:t>
            </a:r>
          </a:p>
          <a:p>
            <a:pPr/>
            <a:r>
              <a:t>Manager Underperformance:</a:t>
            </a:r>
          </a:p>
          <a:p>
            <a:pPr lvl="1"/>
            <a:r>
              <a:t>- Rolling 90-Day Sharpe ratios revealed significant manager underperformance during volatile quarters.</a:t>
            </a:r>
          </a:p>
          <a:p>
            <a:pPr/>
            <a:r>
              <a:t>The Composite Scorecard:</a:t>
            </a:r>
          </a:p>
          <a:p>
            <a:pPr lvl="1"/>
            <a:r>
              <a:t>- Algorithmic 0-100 grading successfully penalized funds with high expense ratios and excessive max drawdowns.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3A93"/>
                </a:solidFill>
              </a:defRPr>
            </a:pPr>
            <a:r>
              <a:t>Limitations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</a:t>
            </a:r>
          </a:p>
          <a:p>
            <a:pPr lvl="1"/>
            <a:r>
              <a:t>- 3-year history is insufficient for full economic cycle stress testing.</a:t>
            </a:r>
          </a:p>
          <a:p>
            <a:pPr lvl="1"/>
            <a:r>
              <a:t>- Lack of individual stock transaction data restricts deepest attribution analysis.</a:t>
            </a:r>
          </a:p>
          <a:p>
            <a:pPr/>
            <a:r>
              <a:t>Recommendations:</a:t>
            </a:r>
          </a:p>
          <a:p>
            <a:pPr lvl="1"/>
            <a:r>
              <a:t>- Implement the Churn Prediction algorithm to proactively target 'at-risk' SIP investors (gaps &gt; 35 days).</a:t>
            </a:r>
          </a:p>
          <a:p>
            <a:pPr lvl="1"/>
            <a:r>
              <a:t>- Deploy the Fund Recommender Engine onto the retail mobile application.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F3A93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 for 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